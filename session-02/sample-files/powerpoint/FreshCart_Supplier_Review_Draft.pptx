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0"/>
            <a:ext cx="8229600" cy="822960"/>
          </a:xfrm>
          <a:prstGeom prst="rect">
            <a:avLst/>
          </a:prstGeom>
          <a:noFill/>
          <a:ln/>
        </p:spPr>
        <p:txBody>
          <a:bodyPr wrap="square" lIns="0" tIns="0" rIns="0" bIns="0" rtlCol="0" anchor="ctr"/>
          <a:lstStyle/>
          <a:p>
            <a:pPr indent="0" marL="0">
              <a:buNone/>
            </a:pPr>
            <a:r>
              <a:rPr lang="en-US" sz="3600" b="1" dirty="0">
                <a:solidFill>
                  <a:srgbClr val="1F2A44"/>
                </a:solidFill>
                <a:latin typeface="Arial" pitchFamily="34" charset="0"/>
                <a:ea typeface="Arial" pitchFamily="34" charset="-122"/>
                <a:cs typeface="Arial" pitchFamily="34" charset="-120"/>
              </a:rPr>
              <a:t>Supplier Review Q3</a:t>
            </a:r>
            <a:endParaRPr lang="en-US" sz="3600" dirty="0"/>
          </a:p>
        </p:txBody>
      </p:sp>
      <p:sp>
        <p:nvSpPr>
          <p:cNvPr id="3" name="Text 1"/>
          <p:cNvSpPr txBox="1"/>
          <p:nvPr/>
        </p:nvSpPr>
        <p:spPr>
          <a:xfrm>
            <a:off x="457200" y="2560320"/>
            <a:ext cx="8229600" cy="457200"/>
          </a:xfrm>
          <a:prstGeom prst="rect">
            <a:avLst/>
          </a:prstGeom>
          <a:noFill/>
          <a:ln/>
        </p:spPr>
        <p:txBody>
          <a:bodyPr wrap="square" lIns="0" tIns="0" rIns="0" bIns="0" rtlCol="0" anchor="ctr"/>
          <a:lstStyle/>
          <a:p>
            <a:pPr indent="0" marL="0">
              <a:buNone/>
            </a:pPr>
            <a:r>
              <a:rPr lang="en-US" sz="1600" dirty="0">
                <a:solidFill>
                  <a:srgbClr val="555555"/>
                </a:solidFill>
                <a:latin typeface="Arial" pitchFamily="34" charset="0"/>
                <a:ea typeface="Arial" pitchFamily="34" charset="-122"/>
                <a:cs typeface="Arial" pitchFamily="34" charset="-120"/>
              </a:rPr>
              <a:t>FreshCart Operations  |  Prepared by Arjun Shah</a:t>
            </a:r>
            <a:endParaRPr lang="en-US" sz="1600" dirty="0"/>
          </a:p>
        </p:txBody>
      </p:sp>
      <p:sp>
        <p:nvSpPr>
          <p:cNvPr id="4" name="Text 2"/>
          <p:cNvSpPr txBox="1"/>
          <p:nvPr/>
        </p:nvSpPr>
        <p:spPr>
          <a:xfrm>
            <a:off x="457200" y="3017520"/>
            <a:ext cx="8229600" cy="365760"/>
          </a:xfrm>
          <a:prstGeom prst="rect">
            <a:avLst/>
          </a:prstGeom>
          <a:noFill/>
          <a:ln/>
        </p:spPr>
        <p:txBody>
          <a:bodyPr wrap="square" lIns="0" tIns="0" rIns="0" bIns="0" rtlCol="0" anchor="ctr"/>
          <a:lstStyle/>
          <a:p>
            <a:pPr indent="0" marL="0">
              <a:buNone/>
            </a:pPr>
            <a:r>
              <a:rPr lang="en-US" sz="1200" i="1" dirty="0">
                <a:solidFill>
                  <a:srgbClr val="888888"/>
                </a:solidFill>
                <a:latin typeface="Arial" pitchFamily="34" charset="0"/>
                <a:ea typeface="Arial" pitchFamily="34" charset="-122"/>
                <a:cs typeface="Arial" pitchFamily="34" charset="-120"/>
              </a:rPr>
              <a:t>Draft v3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rgbClr val="1F2A44"/>
                </a:solidFill>
                <a:latin typeface="Arial" pitchFamily="34" charset="0"/>
                <a:ea typeface="Arial" pitchFamily="34" charset="-122"/>
                <a:cs typeface="Arial" pitchFamily="34" charset="-120"/>
              </a:rPr>
              <a:t>Recommendations</a:t>
            </a:r>
            <a:endParaRPr lang="en-US" sz="2400" dirty="0"/>
          </a:p>
        </p:txBody>
      </p:sp>
      <p:sp>
        <p:nvSpPr>
          <p:cNvPr id="3" name="Text 1"/>
          <p:cNvSpPr txBox="1"/>
          <p:nvPr/>
        </p:nvSpPr>
        <p:spPr>
          <a:xfrm>
            <a:off x="457200" y="1051560"/>
            <a:ext cx="8229600" cy="36576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Place Harvest Ridge Produce on a 60-day improvement plan with weekly on-time and fill-rate reviews until the second vehicle is in service</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Require Coastal Dairy Co. to provide weekly temperature logs for all deliveries</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Use the 6% price increase as the basis for renegotiating with Coastal Dairy Co.</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Offer Coastal Dairy Co. a 12-month contract only if the price increase is reduced and a cold-chain penalty clause is added</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Increase orders from Sunrise Bakers by 10% ahead of the festive season and identify a backup bakery supplier</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Continue with Green Acre Farms on current terms and review again at the end of Q4</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rgbClr val="1F2A44"/>
                </a:solidFill>
                <a:latin typeface="Arial" pitchFamily="34" charset="0"/>
                <a:ea typeface="Arial" pitchFamily="34" charset="-122"/>
                <a:cs typeface="Arial" pitchFamily="34" charset="-120"/>
              </a:rPr>
              <a:t>Agenda</a:t>
            </a:r>
            <a:endParaRPr lang="en-US" sz="2400" dirty="0"/>
          </a:p>
        </p:txBody>
      </p:sp>
      <p:sp>
        <p:nvSpPr>
          <p:cNvPr id="3" name="Text 1"/>
          <p:cNvSpPr txBox="1"/>
          <p:nvPr/>
        </p:nvSpPr>
        <p:spPr>
          <a:xfrm>
            <a:off x="457200" y="1051560"/>
            <a:ext cx="8229600" cy="365760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rgbClr val="222222"/>
                </a:solidFill>
                <a:latin typeface="Arial" pitchFamily="34" charset="0"/>
                <a:ea typeface="Arial" pitchFamily="34" charset="-122"/>
                <a:cs typeface="Arial" pitchFamily="34" charset="-120"/>
              </a:rPr>
              <a:t>Background</a:t>
            </a:r>
            <a:endParaRPr lang="en-US" sz="1600" dirty="0"/>
          </a:p>
          <a:p>
            <a:pPr algn="l" marL="342900" indent="-342900">
              <a:spcAft>
                <a:spcPts val="800"/>
              </a:spcAft>
              <a:buSzPct val="100000"/>
              <a:buChar char="•"/>
            </a:pPr>
            <a:r>
              <a:rPr lang="en-US" sz="1600" dirty="0">
                <a:solidFill>
                  <a:srgbClr val="222222"/>
                </a:solidFill>
                <a:latin typeface="Arial" pitchFamily="34" charset="0"/>
                <a:ea typeface="Arial" pitchFamily="34" charset="-122"/>
                <a:cs typeface="Arial" pitchFamily="34" charset="-120"/>
              </a:rPr>
              <a:t>Supplier performance</a:t>
            </a:r>
            <a:endParaRPr lang="en-US" sz="1600" dirty="0"/>
          </a:p>
          <a:p>
            <a:pPr algn="l" marL="342900" indent="-342900">
              <a:spcAft>
                <a:spcPts val="800"/>
              </a:spcAft>
              <a:buSzPct val="100000"/>
              <a:buChar char="•"/>
            </a:pPr>
            <a:r>
              <a:rPr lang="en-US" sz="1600" dirty="0">
                <a:solidFill>
                  <a:srgbClr val="222222"/>
                </a:solidFill>
                <a:latin typeface="Arial" pitchFamily="34" charset="0"/>
                <a:ea typeface="Arial" pitchFamily="34" charset="-122"/>
                <a:cs typeface="Arial" pitchFamily="34" charset="-120"/>
              </a:rPr>
              <a:t>Coastal Dairy Co.</a:t>
            </a:r>
            <a:endParaRPr lang="en-US" sz="1600" dirty="0"/>
          </a:p>
          <a:p>
            <a:pPr algn="l" marL="342900" indent="-342900">
              <a:spcAft>
                <a:spcPts val="800"/>
              </a:spcAft>
              <a:buSzPct val="100000"/>
              <a:buChar char="•"/>
            </a:pPr>
            <a:r>
              <a:rPr lang="en-US" sz="1600" dirty="0">
                <a:solidFill>
                  <a:srgbClr val="222222"/>
                </a:solidFill>
                <a:latin typeface="Arial" pitchFamily="34" charset="0"/>
                <a:ea typeface="Arial" pitchFamily="34" charset="-122"/>
                <a:cs typeface="Arial" pitchFamily="34" charset="-120"/>
              </a:rPr>
              <a:t>Harvest Ridge Produce</a:t>
            </a:r>
            <a:endParaRPr lang="en-US" sz="1600" dirty="0"/>
          </a:p>
          <a:p>
            <a:pPr algn="l" marL="342900" indent="-342900">
              <a:spcAft>
                <a:spcPts val="800"/>
              </a:spcAft>
              <a:buSzPct val="100000"/>
              <a:buChar char="•"/>
            </a:pPr>
            <a:r>
              <a:rPr lang="en-US" sz="1600" dirty="0">
                <a:solidFill>
                  <a:srgbClr val="222222"/>
                </a:solidFill>
                <a:latin typeface="Arial" pitchFamily="34" charset="0"/>
                <a:ea typeface="Arial" pitchFamily="34" charset="-122"/>
                <a:cs typeface="Arial" pitchFamily="34" charset="-120"/>
              </a:rPr>
              <a:t>Risks</a:t>
            </a:r>
            <a:endParaRPr lang="en-US" sz="1600" dirty="0"/>
          </a:p>
          <a:p>
            <a:pPr algn="l" marL="342900" indent="-342900">
              <a:spcAft>
                <a:spcPts val="800"/>
              </a:spcAft>
              <a:buSzPct val="100000"/>
              <a:buChar char="•"/>
            </a:pPr>
            <a:r>
              <a:rPr lang="en-US" sz="1600" dirty="0">
                <a:solidFill>
                  <a:srgbClr val="222222"/>
                </a:solidFill>
                <a:latin typeface="Arial" pitchFamily="34" charset="0"/>
                <a:ea typeface="Arial" pitchFamily="34" charset="-122"/>
                <a:cs typeface="Arial" pitchFamily="34" charset="-120"/>
              </a:rPr>
              <a:t>Other observations</a:t>
            </a:r>
            <a:endParaRPr lang="en-US" sz="1600" dirty="0"/>
          </a:p>
          <a:p>
            <a:pPr algn="l" marL="342900" indent="-342900">
              <a:spcAft>
                <a:spcPts val="800"/>
              </a:spcAft>
              <a:buSzPct val="100000"/>
              <a:buChar char="•"/>
            </a:pPr>
            <a:r>
              <a:rPr lang="en-US" sz="1600" dirty="0">
                <a:solidFill>
                  <a:srgbClr val="222222"/>
                </a:solidFill>
                <a:latin typeface="Arial" pitchFamily="34" charset="0"/>
                <a:ea typeface="Arial" pitchFamily="34" charset="-122"/>
                <a:cs typeface="Arial" pitchFamily="34" charset="-120"/>
              </a:rPr>
              <a:t>Next steps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algn="l" indent="0" marL="0">
              <a:buNone/>
            </a:pPr>
            <a:r>
              <a:rPr lang="en-US" sz="2000" b="1" dirty="0">
                <a:solidFill>
                  <a:srgbClr val="444444"/>
                </a:solidFill>
                <a:latin typeface="Arial" pitchFamily="34" charset="0"/>
                <a:ea typeface="Arial" pitchFamily="34" charset="-122"/>
                <a:cs typeface="Arial" pitchFamily="34" charset="-120"/>
              </a:rPr>
              <a:t>background</a:t>
            </a:r>
            <a:endParaRPr lang="en-US" sz="2000" dirty="0"/>
          </a:p>
        </p:txBody>
      </p:sp>
      <p:sp>
        <p:nvSpPr>
          <p:cNvPr id="3" name="Text 1"/>
          <p:cNvSpPr txBox="1"/>
          <p:nvPr/>
        </p:nvSpPr>
        <p:spPr>
          <a:xfrm>
            <a:off x="457200" y="1051560"/>
            <a:ext cx="8229600" cy="3474720"/>
          </a:xfrm>
          <a:prstGeom prst="rect">
            <a:avLst/>
          </a:prstGeom>
          <a:noFill/>
          <a:ln/>
        </p:spPr>
        <p:txBody>
          <a:bodyPr wrap="square" lIns="0" tIns="0" rIns="0" bIns="0" rtlCol="0" anchor="t"/>
          <a:lstStyle/>
          <a:p>
            <a:pPr algn="ctr" indent="0" marL="0">
              <a:buNone/>
            </a:pPr>
            <a:r>
              <a:rPr lang="en-US" sz="1400" dirty="0">
                <a:solidFill>
                  <a:srgbClr val="222222"/>
                </a:solidFill>
                <a:latin typeface="Arial" pitchFamily="34" charset="0"/>
                <a:ea typeface="Arial" pitchFamily="34" charset="-122"/>
                <a:cs typeface="Arial" pitchFamily="34" charset="-120"/>
              </a:rPr>
              <a:t>FreshCart currently sources vegetables, dairy, bakery products and fruit from four regional suppliers. Demand grew steadily through the quarter, with average daily orders rising from 1,600 in the second quarter to 1,850 in the third quarter. Across the 92 days of the quarter, FreshCart fulfilled about 170,200 customer orders. Higher volumes put more pressure on supplier deliveries. Customers are promised delivery within 90 minutes of ordering, so any supplier delay at the warehouse quickly becomes a late delivery for the customer. For that reason, on-time delivery, order fill rate and customer complaints are the three measures used in this review. This review covers 1 July to 30 September and is intended to support decisions on the next contract cycle before the festive-season ordering peak in late October.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1F2A44"/>
                </a:solidFill>
                <a:latin typeface="Arial" pitchFamily="34" charset="0"/>
                <a:ea typeface="Arial" pitchFamily="34" charset="-122"/>
                <a:cs typeface="Arial" pitchFamily="34" charset="-120"/>
              </a:rPr>
              <a:t>Supplier Performance!!</a:t>
            </a:r>
            <a:endParaRPr lang="en-US" sz="2800" dirty="0"/>
          </a:p>
        </p:txBody>
      </p:sp>
      <p:sp>
        <p:nvSpPr>
          <p:cNvPr id="3" name="Text 1"/>
          <p:cNvSpPr txBox="1"/>
          <p:nvPr/>
        </p:nvSpPr>
        <p:spPr>
          <a:xfrm>
            <a:off x="457200" y="1051560"/>
            <a:ext cx="8229600" cy="3657600"/>
          </a:xfrm>
          <a:prstGeom prst="rect">
            <a:avLst/>
          </a:prstGeom>
          <a:noFill/>
          <a:ln/>
        </p:spPr>
        <p:txBody>
          <a:bodyPr wrap="square" lIns="0" tIns="0" rIns="0" bIns="0" rtlCol="0" anchor="t"/>
          <a:lstStyle/>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Green Acre Farms (vegetables): on-time 94%, fill rate 97%, complaints 41, price +3%</a:t>
            </a:r>
            <a:endParaRPr lang="en-US" sz="1200" dirty="0"/>
          </a:p>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Coastal Dairy Co. (dairy): on-time 88%, fill rate 93%, complaints 63, price +6%</a:t>
            </a:r>
            <a:endParaRPr lang="en-US" sz="1200" dirty="0"/>
          </a:p>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Sunrise Bakers (bakery): on-time 96%, fill rate 98%, complaints 12, price 0%</a:t>
            </a:r>
            <a:endParaRPr lang="en-US" sz="1200" dirty="0"/>
          </a:p>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Harvest Ridge Produce (fruit): on-time 81%, fill rate 89%, complaints 97, price +2%</a:t>
            </a:r>
            <a:endParaRPr lang="en-US" sz="1200" dirty="0"/>
          </a:p>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Total supplier-related complaints: 213</a:t>
            </a:r>
            <a:endParaRPr lang="en-US" sz="1200" dirty="0"/>
          </a:p>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Average daily orders up from 1,600 (Q2) to 1,850 (Q3)</a:t>
            </a:r>
            <a:endParaRPr lang="en-US" sz="1200" dirty="0"/>
          </a:p>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Customer delivery promise: 90 minutes</a:t>
            </a:r>
            <a:endParaRPr lang="en-US" sz="1200" dirty="0"/>
          </a:p>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On-time = share of supplier deliveries reaching the warehouse in the agreed morning window</a:t>
            </a:r>
            <a:endParaRPr lang="en-US" sz="1200" dirty="0"/>
          </a:p>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Fill rate = share of ordered items actually supplied</a:t>
            </a:r>
            <a:endParaRPr lang="en-US" sz="1200" dirty="0"/>
          </a:p>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Complaints = customer complaints traced back to a supplier product or delivery</a:t>
            </a:r>
            <a:endParaRPr lang="en-US" sz="1200" dirty="0"/>
          </a:p>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Sunrise Bakers strongest on every measure, Harvest Ridge Produce weakest</a:t>
            </a:r>
            <a:endParaRPr lang="en-US" sz="1200" dirty="0"/>
          </a:p>
          <a:p>
            <a:pPr algn="l" marL="342900" indent="-3429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Source: operations dashboard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rgbClr val="1F2A44"/>
                </a:solidFill>
                <a:latin typeface="Times New Roman" pitchFamily="34" charset="0"/>
                <a:ea typeface="Times New Roman" pitchFamily="34" charset="-122"/>
                <a:cs typeface="Times New Roman" pitchFamily="34" charset="-120"/>
              </a:rPr>
              <a:t>Coastal Dairy Co</a:t>
            </a:r>
            <a:endParaRPr lang="en-US" sz="2400" dirty="0"/>
          </a:p>
        </p:txBody>
      </p:sp>
      <p:sp>
        <p:nvSpPr>
          <p:cNvPr id="3" name="Text 1"/>
          <p:cNvSpPr txBox="1"/>
          <p:nvPr/>
        </p:nvSpPr>
        <p:spPr>
          <a:xfrm>
            <a:off x="457200" y="1051560"/>
            <a:ext cx="8229600" cy="36576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rgbClr val="222222"/>
                </a:solidFill>
                <a:latin typeface="Times New Roman" pitchFamily="34" charset="0"/>
                <a:ea typeface="Times New Roman" pitchFamily="34" charset="-122"/>
                <a:cs typeface="Times New Roman" pitchFamily="34" charset="-120"/>
              </a:rPr>
              <a:t>On-time delivery 88%, fill rate 93%, and 36 complaints, the second highest of the four suppliers</a:t>
            </a:r>
            <a:endParaRPr lang="en-US" sz="1400" dirty="0"/>
          </a:p>
          <a:p>
            <a:pPr algn="l" marL="342900" indent="-342900">
              <a:spcAft>
                <a:spcPts val="800"/>
              </a:spcAft>
              <a:buSzPct val="100000"/>
              <a:buChar char="•"/>
            </a:pPr>
            <a:r>
              <a:rPr lang="en-US" sz="1400" dirty="0">
                <a:solidFill>
                  <a:srgbClr val="222222"/>
                </a:solidFill>
                <a:latin typeface="Times New Roman" pitchFamily="34" charset="0"/>
                <a:ea typeface="Times New Roman" pitchFamily="34" charset="-122"/>
                <a:cs typeface="Times New Roman" pitchFamily="34" charset="-120"/>
              </a:rPr>
              <a:t>On 14 August a cooling failure on a delivery vehicle broke the cold chain and 1,120 units of yoghurt were discarded at the warehouse</a:t>
            </a:r>
            <a:endParaRPr lang="en-US" sz="1400" dirty="0"/>
          </a:p>
          <a:p>
            <a:pPr algn="l" marL="342900" indent="-342900">
              <a:spcAft>
                <a:spcPts val="800"/>
              </a:spcAft>
              <a:buSzPct val="100000"/>
              <a:buChar char="•"/>
            </a:pPr>
            <a:r>
              <a:rPr lang="en-US" sz="1400" dirty="0">
                <a:solidFill>
                  <a:srgbClr val="222222"/>
                </a:solidFill>
                <a:latin typeface="Times New Roman" pitchFamily="34" charset="0"/>
                <a:ea typeface="Times New Roman" pitchFamily="34" charset="-122"/>
                <a:cs typeface="Times New Roman" pitchFamily="34" charset="-120"/>
              </a:rPr>
              <a:t>The supplier accepted responsibility and issued a credit note of Rs 2.4 lakh, which has been received</a:t>
            </a:r>
            <a:endParaRPr lang="en-US" sz="1400" dirty="0"/>
          </a:p>
          <a:p>
            <a:pPr algn="l" marL="342900" indent="-342900">
              <a:spcAft>
                <a:spcPts val="800"/>
              </a:spcAft>
              <a:buSzPct val="100000"/>
              <a:buChar char="•"/>
            </a:pPr>
            <a:r>
              <a:rPr lang="en-US" sz="1400" dirty="0">
                <a:solidFill>
                  <a:srgbClr val="222222"/>
                </a:solidFill>
                <a:latin typeface="Times New Roman" pitchFamily="34" charset="0"/>
                <a:ea typeface="Times New Roman" pitchFamily="34" charset="-122"/>
                <a:cs typeface="Times New Roman" pitchFamily="34" charset="-120"/>
              </a:rPr>
              <a:t>Cooling unit repaired on 20 August; temperature sensors installed in all delivery vehicles (18 vehicles, to be confirmed)</a:t>
            </a:r>
            <a:endParaRPr lang="en-US" sz="1400" dirty="0"/>
          </a:p>
          <a:p>
            <a:pPr algn="l" marL="342900" indent="-342900">
              <a:spcAft>
                <a:spcPts val="800"/>
              </a:spcAft>
              <a:buSzPct val="100000"/>
              <a:buChar char="•"/>
            </a:pPr>
            <a:r>
              <a:rPr lang="en-US" sz="1400" dirty="0">
                <a:solidFill>
                  <a:srgbClr val="222222"/>
                </a:solidFill>
                <a:latin typeface="Times New Roman" pitchFamily="34" charset="0"/>
                <a:ea typeface="Times New Roman" pitchFamily="34" charset="-122"/>
                <a:cs typeface="Times New Roman" pitchFamily="34" charset="-120"/>
              </a:rPr>
              <a:t>6% price increase announced from 1 October, the largest of any supplier</a:t>
            </a:r>
            <a:endParaRPr lang="en-US" sz="1400" dirty="0"/>
          </a:p>
          <a:p>
            <a:pPr algn="l" marL="342900" indent="-342900">
              <a:spcAft>
                <a:spcPts val="800"/>
              </a:spcAft>
              <a:buSzPct val="100000"/>
              <a:buChar char="•"/>
            </a:pPr>
            <a:r>
              <a:rPr lang="en-US" sz="1400" dirty="0">
                <a:solidFill>
                  <a:srgbClr val="222222"/>
                </a:solidFill>
                <a:latin typeface="Times New Roman" pitchFamily="34" charset="0"/>
                <a:ea typeface="Times New Roman" pitchFamily="34" charset="-122"/>
                <a:cs typeface="Times New Roman" pitchFamily="34" charset="-120"/>
              </a:rPr>
              <a:t>Meeting held on 18 September: supplier open to a 4% increase if we sign a 12-month contract, not yet agreed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rgbClr val="1F2A44"/>
                </a:solidFill>
                <a:latin typeface="Arial" pitchFamily="34" charset="0"/>
                <a:ea typeface="Arial" pitchFamily="34" charset="-122"/>
                <a:cs typeface="Arial" pitchFamily="34" charset="-120"/>
              </a:rPr>
              <a:t>Harvest Ridge Produce (Fruit) - Problems</a:t>
            </a:r>
            <a:endParaRPr lang="en-US" sz="2400" dirty="0"/>
          </a:p>
        </p:txBody>
      </p:sp>
      <p:sp>
        <p:nvSpPr>
          <p:cNvPr id="3" name="Text 1"/>
          <p:cNvSpPr txBox="1"/>
          <p:nvPr/>
        </p:nvSpPr>
        <p:spPr>
          <a:xfrm>
            <a:off x="457200" y="1051560"/>
            <a:ext cx="8229600" cy="36576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Weakest supplier this quarter: on-time delivery 84%, fill rate 89%, 97 complaints</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Most late deliveries on Monday and Friday mornings</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Supplier runs a single delivery vehicle for the FreshCart route, so any breakdown or traffic delay affects the whole delivery</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Committed to adding a second vehicle from 1 November</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2% price increase applied during the quarter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rgbClr val="B00020"/>
                </a:solidFill>
                <a:latin typeface="Arial" pitchFamily="34" charset="0"/>
                <a:ea typeface="Arial" pitchFamily="34" charset="-122"/>
                <a:cs typeface="Arial" pitchFamily="34" charset="-120"/>
              </a:rPr>
              <a:t>Risks</a:t>
            </a:r>
            <a:endParaRPr lang="en-US" sz="3200" dirty="0"/>
          </a:p>
        </p:txBody>
      </p:sp>
      <p:sp>
        <p:nvSpPr>
          <p:cNvPr id="3" name="Text 1"/>
          <p:cNvSpPr txBox="1"/>
          <p:nvPr/>
        </p:nvSpPr>
        <p:spPr>
          <a:xfrm>
            <a:off x="457200" y="1051560"/>
            <a:ext cx="8229600" cy="365760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Festive-season demand is expected to rise well above current levels</a:t>
            </a:r>
            <a:endParaRPr lang="en-US" sz="1400" dirty="0"/>
          </a:p>
          <a:p>
            <a:pPr algn="l"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Harvest Ridge Produce may not cope before its second vehicle arrives on 1 November</a:t>
            </a:r>
            <a:endParaRPr lang="en-US" sz="1400" dirty="0"/>
          </a:p>
          <a:p>
            <a:pPr algn="l"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A second cold-chain failure at Coastal Dairy would hurt customer trust and increase waste</a:t>
            </a:r>
            <a:endParaRPr lang="en-US" sz="1400" dirty="0"/>
          </a:p>
          <a:p>
            <a:pPr algn="l"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Price increases from three suppliers will reduce margin unless offset by volume commitments or product mix changes</a:t>
            </a:r>
            <a:endParaRPr lang="en-US" sz="1400" dirty="0"/>
          </a:p>
          <a:p>
            <a:pPr algn="l"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Reliance on a single bakery supplier leaves FreshCart exposed if Sunrise Bakers has a production issue</a:t>
            </a:r>
            <a:endParaRPr lang="en-US" sz="1400" dirty="0"/>
          </a:p>
          <a:p>
            <a:pPr algn="l"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Rain in July affected leafy vegetable freshness and could recur</a:t>
            </a:r>
            <a:endParaRPr lang="en-US" sz="1400" dirty="0"/>
          </a:p>
          <a:p>
            <a:pPr algn="l"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Warehouse staffing at 5 am is not confirmed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rgbClr val="1F2A44"/>
                </a:solidFill>
                <a:latin typeface="Arial" pitchFamily="34" charset="0"/>
                <a:ea typeface="Arial" pitchFamily="34" charset="-122"/>
                <a:cs typeface="Arial" pitchFamily="34" charset="-120"/>
              </a:rPr>
              <a:t>Other observations</a:t>
            </a:r>
            <a:endParaRPr lang="en-US" sz="2400" dirty="0"/>
          </a:p>
        </p:txBody>
      </p:sp>
      <p:sp>
        <p:nvSpPr>
          <p:cNvPr id="3" name="Text 1"/>
          <p:cNvSpPr txBox="1"/>
          <p:nvPr/>
        </p:nvSpPr>
        <p:spPr>
          <a:xfrm>
            <a:off x="457200" y="1051560"/>
            <a:ext cx="8229600" cy="36576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Heavy rain for two weeks in July affected leafy vegetables from Green Acre Farms</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Coastal Dairy plans to launch a lactose-free range in November</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Warehouse parking was congested during the supplier visit</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Festival lighting is being installed at the main market</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Customer app rating is 4.4 out of 5 this quarter</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Two new delivery riders joined in September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rgbClr val="1F2A44"/>
                </a:solidFill>
                <a:latin typeface="Arial" pitchFamily="34" charset="0"/>
                <a:ea typeface="Arial" pitchFamily="34" charset="-122"/>
                <a:cs typeface="Arial" pitchFamily="34" charset="-120"/>
              </a:rPr>
              <a:t>Next Steps</a:t>
            </a:r>
            <a:endParaRPr lang="en-US" sz="2400" dirty="0"/>
          </a:p>
        </p:txBody>
      </p:sp>
      <p:sp>
        <p:nvSpPr>
          <p:cNvPr id="3" name="Text 1"/>
          <p:cNvSpPr txBox="1"/>
          <p:nvPr/>
        </p:nvSpPr>
        <p:spPr>
          <a:xfrm>
            <a:off x="457200" y="1051560"/>
            <a:ext cx="8229600" cy="36576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Share improvement plan with Harvest Ridge Produce</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Request weekly temperature logs from Coastal Dairy Co.</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Open price renegotiation with Coastal Dairy Co.</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Confirm festive-season volumes with Sunrise Bakers</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Shortlist backup bakery suppliers</a:t>
            </a:r>
            <a:endParaRPr lang="en-US" sz="1400" dirty="0"/>
          </a:p>
          <a:p>
            <a:pPr algn="l" marL="342900" indent="-342900">
              <a:spcAft>
                <a:spcPts val="800"/>
              </a:spcAft>
              <a:buSzPct val="100000"/>
              <a:buChar char="•"/>
            </a:pPr>
            <a:r>
              <a:rPr lang="en-US" sz="1400" dirty="0">
                <a:solidFill>
                  <a:srgbClr val="222222"/>
                </a:solidFill>
                <a:latin typeface="Arial" pitchFamily="34" charset="0"/>
                <a:ea typeface="Arial" pitchFamily="34" charset="-122"/>
                <a:cs typeface="Arial" pitchFamily="34" charset="-120"/>
              </a:rPr>
              <a:t>Decision needed soon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0"/>
            <a:ext cx="8229600" cy="914400"/>
          </a:xfrm>
          <a:prstGeom prst="rect">
            <a:avLst/>
          </a:prstGeom>
          <a:noFill/>
          <a:ln/>
        </p:spPr>
        <p:txBody>
          <a:bodyPr wrap="square" lIns="0" tIns="0" rIns="0" bIns="0" rtlCol="0" anchor="ctr"/>
          <a:lstStyle/>
          <a:p>
            <a:pPr algn="ctr" indent="0" marL="0">
              <a:buNone/>
            </a:pPr>
            <a:r>
              <a:rPr lang="en-US" sz="4000" b="1" dirty="0">
                <a:solidFill>
                  <a:srgbClr val="1F2A44"/>
                </a:solidFill>
                <a:latin typeface="Arial" pitchFamily="34" charset="0"/>
                <a:ea typeface="Arial" pitchFamily="34" charset="-122"/>
                <a:cs typeface="Arial" pitchFamily="34" charset="-120"/>
              </a:rPr>
              <a:t>Questions??</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FreshCart Supplier Review (Draft)</dc:title>
  <dc:subject>PptxGenJS Presentation</dc:subject>
  <dc:creator>FreshCart Operations (synthetic)</dc:creator>
  <cp:lastModifiedBy>FreshCart Operations (synthetic)</cp:lastModifiedBy>
  <cp:revision>1</cp:revision>
  <dcterms:created xsi:type="dcterms:W3CDTF">2026-09-24T20:31:57Z</dcterms:created>
  <dcterms:modified xsi:type="dcterms:W3CDTF">2026-09-24T20:31:57Z</dcterms:modified>
</cp:coreProperties>
</file>